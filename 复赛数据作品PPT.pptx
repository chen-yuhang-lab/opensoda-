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6" r:id="rId7"/>
    <p:sldId id="261" r:id="rId8"/>
    <p:sldId id="269" r:id="rId9"/>
    <p:sldId id="272" r:id="rId10"/>
    <p:sldId id="273" r:id="rId11"/>
    <p:sldId id="260" r:id="rId12"/>
  </p:sldIdLst>
  <p:sldSz cx="12192000" cy="6858000"/>
  <p:notesSz cx="6858000" cy="9144000"/>
  <p:embeddedFontLst>
    <p:embeddedFont>
      <p:font typeface="微软雅黑" panose="020B0503020204020204" pitchFamily="34" charset="-122"/>
      <p:regular r:id="rId16"/>
    </p:embeddedFont>
    <p:embeddedFont>
      <p:font typeface="方正兰亭黑简体" panose="02000000000000000000" charset="-122"/>
      <p:regular r:id="rId17"/>
    </p:embeddedFont>
    <p:embeddedFont>
      <p:font typeface="华康行楷体 W5" panose="03000509000000000000" charset="-122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6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32" y="92"/>
      </p:cViewPr>
      <p:guideLst>
        <p:guide orient="horz" pos="3928"/>
        <p:guide orient="horz" pos="3864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0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 flipH="1">
            <a:off x="10453303" y="327059"/>
            <a:ext cx="1914423" cy="2686660"/>
            <a:chOff x="-177720" y="327059"/>
            <a:chExt cx="1914423" cy="2686660"/>
          </a:xfrm>
        </p:grpSpPr>
        <p:grpSp>
          <p:nvGrpSpPr>
            <p:cNvPr id="3" name="组合 2"/>
            <p:cNvGrpSpPr/>
            <p:nvPr/>
          </p:nvGrpSpPr>
          <p:grpSpPr>
            <a:xfrm rot="8128947">
              <a:off x="-177720" y="2479795"/>
              <a:ext cx="1914423" cy="145257"/>
              <a:chOff x="-4699878" y="7904273"/>
              <a:chExt cx="5573666" cy="422901"/>
            </a:xfrm>
            <a:solidFill>
              <a:srgbClr val="F8E6EE"/>
            </a:solidFill>
          </p:grpSpPr>
          <p:sp>
            <p:nvSpPr>
              <p:cNvPr id="6" name="等腰三角形 5"/>
              <p:cNvSpPr/>
              <p:nvPr/>
            </p:nvSpPr>
            <p:spPr>
              <a:xfrm>
                <a:off x="-2521407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等腰三角形 6"/>
              <p:cNvSpPr/>
              <p:nvPr/>
            </p:nvSpPr>
            <p:spPr>
              <a:xfrm>
                <a:off x="-3247564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等腰三角形 7"/>
              <p:cNvSpPr/>
              <p:nvPr/>
            </p:nvSpPr>
            <p:spPr>
              <a:xfrm>
                <a:off x="-3973721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等腰三角形 8"/>
              <p:cNvSpPr/>
              <p:nvPr/>
            </p:nvSpPr>
            <p:spPr>
              <a:xfrm>
                <a:off x="-4699878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等腰三角形 9"/>
              <p:cNvSpPr/>
              <p:nvPr/>
            </p:nvSpPr>
            <p:spPr>
              <a:xfrm>
                <a:off x="383223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>
                <a:off x="-342936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>
                <a:off x="-1069093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>
                <a:off x="-1795250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任意多边形: 形状 4"/>
            <p:cNvSpPr/>
            <p:nvPr/>
          </p:nvSpPr>
          <p:spPr>
            <a:xfrm>
              <a:off x="0" y="327059"/>
              <a:ext cx="1310000" cy="2686660"/>
            </a:xfrm>
            <a:custGeom>
              <a:avLst/>
              <a:gdLst>
                <a:gd name="connsiteX0" fmla="*/ 0 w 1310000"/>
                <a:gd name="connsiteY0" fmla="*/ 0 h 2686660"/>
                <a:gd name="connsiteX1" fmla="*/ 1286432 w 1310000"/>
                <a:gd name="connsiteY1" fmla="*/ 1286432 h 2686660"/>
                <a:gd name="connsiteX2" fmla="*/ 1286432 w 1310000"/>
                <a:gd name="connsiteY2" fmla="*/ 1400229 h 2686660"/>
                <a:gd name="connsiteX3" fmla="*/ 0 w 1310000"/>
                <a:gd name="connsiteY3" fmla="*/ 2686660 h 268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000" h="2686660">
                  <a:moveTo>
                    <a:pt x="0" y="0"/>
                  </a:moveTo>
                  <a:lnTo>
                    <a:pt x="1286432" y="1286432"/>
                  </a:lnTo>
                  <a:cubicBezTo>
                    <a:pt x="1317856" y="1317856"/>
                    <a:pt x="1317856" y="1368804"/>
                    <a:pt x="1286432" y="1400229"/>
                  </a:cubicBezTo>
                  <a:lnTo>
                    <a:pt x="0" y="2686660"/>
                  </a:lnTo>
                  <a:close/>
                </a:path>
              </a:pathLst>
            </a:custGeom>
            <a:solidFill>
              <a:srgbClr val="5E6F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任意多边形: 形状 13"/>
          <p:cNvSpPr/>
          <p:nvPr userDrawn="1"/>
        </p:nvSpPr>
        <p:spPr>
          <a:xfrm>
            <a:off x="46028" y="6328836"/>
            <a:ext cx="1155648" cy="529165"/>
          </a:xfrm>
          <a:custGeom>
            <a:avLst/>
            <a:gdLst>
              <a:gd name="connsiteX0" fmla="*/ 577824 w 1155648"/>
              <a:gd name="connsiteY0" fmla="*/ 0 h 529165"/>
              <a:gd name="connsiteX1" fmla="*/ 660890 w 1155648"/>
              <a:gd name="connsiteY1" fmla="*/ 34407 h 529165"/>
              <a:gd name="connsiteX2" fmla="*/ 1155648 w 1155648"/>
              <a:gd name="connsiteY2" fmla="*/ 529165 h 529165"/>
              <a:gd name="connsiteX3" fmla="*/ 0 w 1155648"/>
              <a:gd name="connsiteY3" fmla="*/ 529165 h 529165"/>
              <a:gd name="connsiteX4" fmla="*/ 494758 w 1155648"/>
              <a:gd name="connsiteY4" fmla="*/ 34407 h 529165"/>
              <a:gd name="connsiteX5" fmla="*/ 577824 w 1155648"/>
              <a:gd name="connsiteY5" fmla="*/ 0 h 5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5648" h="529165">
                <a:moveTo>
                  <a:pt x="577824" y="0"/>
                </a:moveTo>
                <a:cubicBezTo>
                  <a:pt x="607888" y="0"/>
                  <a:pt x="637951" y="11469"/>
                  <a:pt x="660890" y="34407"/>
                </a:cubicBezTo>
                <a:lnTo>
                  <a:pt x="1155648" y="529165"/>
                </a:lnTo>
                <a:lnTo>
                  <a:pt x="0" y="529165"/>
                </a:lnTo>
                <a:lnTo>
                  <a:pt x="494758" y="34407"/>
                </a:lnTo>
                <a:cubicBezTo>
                  <a:pt x="517696" y="11469"/>
                  <a:pt x="547760" y="0"/>
                  <a:pt x="577824" y="0"/>
                </a:cubicBezTo>
                <a:close/>
              </a:path>
            </a:pathLst>
          </a:custGeom>
          <a:solidFill>
            <a:srgbClr val="5E6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/>
        </p:nvSpPr>
        <p:spPr>
          <a:xfrm>
            <a:off x="0" y="4313474"/>
            <a:ext cx="1138918" cy="2360432"/>
          </a:xfrm>
          <a:custGeom>
            <a:avLst/>
            <a:gdLst>
              <a:gd name="connsiteX0" fmla="*/ 0 w 1138918"/>
              <a:gd name="connsiteY0" fmla="*/ 0 h 2360432"/>
              <a:gd name="connsiteX1" fmla="*/ 1109716 w 1138918"/>
              <a:gd name="connsiteY1" fmla="*/ 1109716 h 2360432"/>
              <a:gd name="connsiteX2" fmla="*/ 1109716 w 1138918"/>
              <a:gd name="connsiteY2" fmla="*/ 1250717 h 2360432"/>
              <a:gd name="connsiteX3" fmla="*/ 0 w 1138918"/>
              <a:gd name="connsiteY3" fmla="*/ 2360432 h 2360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918" h="2360432">
                <a:moveTo>
                  <a:pt x="0" y="0"/>
                </a:moveTo>
                <a:lnTo>
                  <a:pt x="1109716" y="1109716"/>
                </a:lnTo>
                <a:cubicBezTo>
                  <a:pt x="1148652" y="1148652"/>
                  <a:pt x="1148652" y="1211781"/>
                  <a:pt x="1109716" y="1250717"/>
                </a:cubicBezTo>
                <a:lnTo>
                  <a:pt x="0" y="2360432"/>
                </a:lnTo>
                <a:close/>
              </a:path>
            </a:pathLst>
          </a:custGeom>
          <a:solidFill>
            <a:srgbClr val="F8E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466850" y="2051222"/>
            <a:ext cx="9258300" cy="2287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cxnSp>
        <p:nvCxnSpPr>
          <p:cNvPr id="19" name="直接连接符 18"/>
          <p:cNvCxnSpPr/>
          <p:nvPr userDrawn="1"/>
        </p:nvCxnSpPr>
        <p:spPr>
          <a:xfrm flipH="1">
            <a:off x="2029968" y="2642677"/>
            <a:ext cx="190195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 flipH="1">
            <a:off x="8284464" y="2642677"/>
            <a:ext cx="190195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59498" y="849731"/>
            <a:ext cx="1166169" cy="1641319"/>
            <a:chOff x="-59498" y="849731"/>
            <a:chExt cx="1166169" cy="1641319"/>
          </a:xfrm>
        </p:grpSpPr>
        <p:grpSp>
          <p:nvGrpSpPr>
            <p:cNvPr id="3" name="组合 2"/>
            <p:cNvGrpSpPr/>
            <p:nvPr/>
          </p:nvGrpSpPr>
          <p:grpSpPr>
            <a:xfrm rot="8128947">
              <a:off x="-59498" y="2217484"/>
              <a:ext cx="1166169" cy="145257"/>
              <a:chOff x="-4699878" y="7904273"/>
              <a:chExt cx="3395193" cy="422901"/>
            </a:xfrm>
            <a:solidFill>
              <a:srgbClr val="F8E6EE"/>
            </a:solidFill>
          </p:grpSpPr>
          <p:sp>
            <p:nvSpPr>
              <p:cNvPr id="5" name="等腰三角形 4"/>
              <p:cNvSpPr/>
              <p:nvPr/>
            </p:nvSpPr>
            <p:spPr>
              <a:xfrm>
                <a:off x="-2521407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等腰三角形 5"/>
              <p:cNvSpPr/>
              <p:nvPr/>
            </p:nvSpPr>
            <p:spPr>
              <a:xfrm>
                <a:off x="-3247564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等腰三角形 6"/>
              <p:cNvSpPr/>
              <p:nvPr/>
            </p:nvSpPr>
            <p:spPr>
              <a:xfrm>
                <a:off x="-3973721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等腰三角形 7"/>
              <p:cNvSpPr/>
              <p:nvPr/>
            </p:nvSpPr>
            <p:spPr>
              <a:xfrm>
                <a:off x="-4699878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等腰三角形 8"/>
              <p:cNvSpPr/>
              <p:nvPr/>
            </p:nvSpPr>
            <p:spPr>
              <a:xfrm>
                <a:off x="-1795250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" name="任意多边形: 形状 3"/>
            <p:cNvSpPr/>
            <p:nvPr/>
          </p:nvSpPr>
          <p:spPr>
            <a:xfrm>
              <a:off x="1" y="849731"/>
              <a:ext cx="787329" cy="1641319"/>
            </a:xfrm>
            <a:custGeom>
              <a:avLst/>
              <a:gdLst>
                <a:gd name="connsiteX0" fmla="*/ 0 w 787329"/>
                <a:gd name="connsiteY0" fmla="*/ 0 h 1641319"/>
                <a:gd name="connsiteX1" fmla="*/ 763761 w 787329"/>
                <a:gd name="connsiteY1" fmla="*/ 763761 h 1641319"/>
                <a:gd name="connsiteX2" fmla="*/ 763761 w 787329"/>
                <a:gd name="connsiteY2" fmla="*/ 877558 h 1641319"/>
                <a:gd name="connsiteX3" fmla="*/ 0 w 787329"/>
                <a:gd name="connsiteY3" fmla="*/ 1641319 h 164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329" h="1641319">
                  <a:moveTo>
                    <a:pt x="0" y="0"/>
                  </a:moveTo>
                  <a:lnTo>
                    <a:pt x="763761" y="763761"/>
                  </a:lnTo>
                  <a:cubicBezTo>
                    <a:pt x="795185" y="795185"/>
                    <a:pt x="795185" y="846133"/>
                    <a:pt x="763761" y="877558"/>
                  </a:cubicBezTo>
                  <a:lnTo>
                    <a:pt x="0" y="1641319"/>
                  </a:lnTo>
                  <a:close/>
                </a:path>
              </a:pathLst>
            </a:custGeom>
            <a:solidFill>
              <a:srgbClr val="5E6F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" name="任意多边形: 形状 9"/>
          <p:cNvSpPr/>
          <p:nvPr userDrawn="1"/>
        </p:nvSpPr>
        <p:spPr>
          <a:xfrm>
            <a:off x="10007600" y="5411487"/>
            <a:ext cx="2184399" cy="1446513"/>
          </a:xfrm>
          <a:custGeom>
            <a:avLst/>
            <a:gdLst>
              <a:gd name="connsiteX0" fmla="*/ 1027715 w 1478487"/>
              <a:gd name="connsiteY0" fmla="*/ 0 h 979057"/>
              <a:gd name="connsiteX1" fmla="*/ 1110781 w 1478487"/>
              <a:gd name="connsiteY1" fmla="*/ 34407 h 979057"/>
              <a:gd name="connsiteX2" fmla="*/ 1478487 w 1478487"/>
              <a:gd name="connsiteY2" fmla="*/ 402113 h 979057"/>
              <a:gd name="connsiteX3" fmla="*/ 1478487 w 1478487"/>
              <a:gd name="connsiteY3" fmla="*/ 979057 h 979057"/>
              <a:gd name="connsiteX4" fmla="*/ 0 w 1478487"/>
              <a:gd name="connsiteY4" fmla="*/ 979057 h 979057"/>
              <a:gd name="connsiteX5" fmla="*/ 944650 w 1478487"/>
              <a:gd name="connsiteY5" fmla="*/ 34407 h 979057"/>
              <a:gd name="connsiteX6" fmla="*/ 1027715 w 1478487"/>
              <a:gd name="connsiteY6" fmla="*/ 0 h 9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8487" h="979057">
                <a:moveTo>
                  <a:pt x="1027715" y="0"/>
                </a:moveTo>
                <a:cubicBezTo>
                  <a:pt x="1057779" y="0"/>
                  <a:pt x="1087843" y="11469"/>
                  <a:pt x="1110781" y="34407"/>
                </a:cubicBezTo>
                <a:lnTo>
                  <a:pt x="1478487" y="402113"/>
                </a:lnTo>
                <a:lnTo>
                  <a:pt x="1478487" y="979057"/>
                </a:lnTo>
                <a:lnTo>
                  <a:pt x="0" y="979057"/>
                </a:lnTo>
                <a:lnTo>
                  <a:pt x="944650" y="34407"/>
                </a:lnTo>
                <a:cubicBezTo>
                  <a:pt x="967588" y="11469"/>
                  <a:pt x="997652" y="0"/>
                  <a:pt x="1027715" y="0"/>
                </a:cubicBezTo>
                <a:close/>
              </a:path>
            </a:pathLst>
          </a:custGeom>
          <a:solidFill>
            <a:srgbClr val="F8E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0745487" y="0"/>
            <a:ext cx="1446513" cy="1446513"/>
          </a:xfrm>
          <a:custGeom>
            <a:avLst/>
            <a:gdLst>
              <a:gd name="connsiteX0" fmla="*/ 0 w 1117111"/>
              <a:gd name="connsiteY0" fmla="*/ 0 h 1117111"/>
              <a:gd name="connsiteX1" fmla="*/ 1117111 w 1117111"/>
              <a:gd name="connsiteY1" fmla="*/ 0 h 1117111"/>
              <a:gd name="connsiteX2" fmla="*/ 1117111 w 1117111"/>
              <a:gd name="connsiteY2" fmla="*/ 1117111 h 1117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7111" h="1117111">
                <a:moveTo>
                  <a:pt x="0" y="0"/>
                </a:moveTo>
                <a:lnTo>
                  <a:pt x="1117111" y="0"/>
                </a:lnTo>
                <a:lnTo>
                  <a:pt x="1117111" y="1117111"/>
                </a:lnTo>
                <a:close/>
              </a:path>
            </a:pathLst>
          </a:custGeom>
          <a:solidFill>
            <a:srgbClr val="5E6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 rot="8128947" flipH="1" flipV="1">
            <a:off x="11115540" y="3356371"/>
            <a:ext cx="1166169" cy="145257"/>
            <a:chOff x="-4699878" y="7904273"/>
            <a:chExt cx="3395193" cy="422901"/>
          </a:xfrm>
          <a:solidFill>
            <a:srgbClr val="5E6FA2"/>
          </a:solidFill>
        </p:grpSpPr>
        <p:sp>
          <p:nvSpPr>
            <p:cNvPr id="14" name="等腰三角形 13"/>
            <p:cNvSpPr/>
            <p:nvPr/>
          </p:nvSpPr>
          <p:spPr>
            <a:xfrm>
              <a:off x="-2521407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>
              <a:off x="-3247564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>
              <a:off x="-3973721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-4699878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-1795250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任意多边形: 形状 18"/>
          <p:cNvSpPr/>
          <p:nvPr userDrawn="1"/>
        </p:nvSpPr>
        <p:spPr>
          <a:xfrm rot="16200000" flipH="1">
            <a:off x="10812029" y="3767255"/>
            <a:ext cx="1893100" cy="866840"/>
          </a:xfrm>
          <a:custGeom>
            <a:avLst/>
            <a:gdLst>
              <a:gd name="connsiteX0" fmla="*/ 577824 w 1155648"/>
              <a:gd name="connsiteY0" fmla="*/ 0 h 529165"/>
              <a:gd name="connsiteX1" fmla="*/ 660890 w 1155648"/>
              <a:gd name="connsiteY1" fmla="*/ 34407 h 529165"/>
              <a:gd name="connsiteX2" fmla="*/ 1155648 w 1155648"/>
              <a:gd name="connsiteY2" fmla="*/ 529165 h 529165"/>
              <a:gd name="connsiteX3" fmla="*/ 0 w 1155648"/>
              <a:gd name="connsiteY3" fmla="*/ 529165 h 529165"/>
              <a:gd name="connsiteX4" fmla="*/ 494758 w 1155648"/>
              <a:gd name="connsiteY4" fmla="*/ 34407 h 529165"/>
              <a:gd name="connsiteX5" fmla="*/ 577824 w 1155648"/>
              <a:gd name="connsiteY5" fmla="*/ 0 h 5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5648" h="529165">
                <a:moveTo>
                  <a:pt x="577824" y="0"/>
                </a:moveTo>
                <a:cubicBezTo>
                  <a:pt x="607888" y="0"/>
                  <a:pt x="637951" y="11469"/>
                  <a:pt x="660890" y="34407"/>
                </a:cubicBezTo>
                <a:lnTo>
                  <a:pt x="1155648" y="529165"/>
                </a:lnTo>
                <a:lnTo>
                  <a:pt x="0" y="529165"/>
                </a:lnTo>
                <a:lnTo>
                  <a:pt x="494758" y="34407"/>
                </a:lnTo>
                <a:cubicBezTo>
                  <a:pt x="517696" y="11469"/>
                  <a:pt x="547760" y="0"/>
                  <a:pt x="577824" y="0"/>
                </a:cubicBezTo>
                <a:close/>
              </a:path>
            </a:pathLst>
          </a:custGeom>
          <a:solidFill>
            <a:srgbClr val="5E6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86350" y="1165067"/>
            <a:ext cx="2150436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accent1">
                    <a:alpha val="20000"/>
                  </a:schemeClr>
                </a:solidFill>
                <a:latin typeface="+mj-ea"/>
                <a:ea typeface="+mj-ea"/>
              </a:rPr>
              <a:t>CONTENTS</a:t>
            </a:r>
            <a:endParaRPr lang="zh-CN" altLang="en-US" sz="2800" dirty="0">
              <a:solidFill>
                <a:schemeClr val="accent1">
                  <a:alpha val="2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5019675" y="1365866"/>
            <a:ext cx="2152650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6942798" y="1753798"/>
            <a:ext cx="1388402" cy="361422"/>
            <a:chOff x="7219554" y="1692534"/>
            <a:chExt cx="1102915" cy="361422"/>
          </a:xfrm>
        </p:grpSpPr>
        <p:sp>
          <p:nvSpPr>
            <p:cNvPr id="41" name="平行四边形 40"/>
            <p:cNvSpPr/>
            <p:nvPr/>
          </p:nvSpPr>
          <p:spPr>
            <a:xfrm>
              <a:off x="7219554" y="1692534"/>
              <a:ext cx="850369" cy="57686"/>
            </a:xfrm>
            <a:prstGeom prst="parallelogram">
              <a:avLst>
                <a:gd name="adj" fmla="val 91048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42" name="平行四边形 41"/>
            <p:cNvSpPr/>
            <p:nvPr/>
          </p:nvSpPr>
          <p:spPr>
            <a:xfrm>
              <a:off x="7393385" y="1820119"/>
              <a:ext cx="929084" cy="118219"/>
            </a:xfrm>
            <a:prstGeom prst="parallelogram">
              <a:avLst>
                <a:gd name="adj" fmla="val 67300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43" name="平行四边形 42"/>
            <p:cNvSpPr/>
            <p:nvPr/>
          </p:nvSpPr>
          <p:spPr>
            <a:xfrm>
              <a:off x="7343379" y="2008237"/>
              <a:ext cx="405209" cy="45719"/>
            </a:xfrm>
            <a:prstGeom prst="parallelogram">
              <a:avLst>
                <a:gd name="adj" fmla="val 91048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 flipH="1">
            <a:off x="3860801" y="1753798"/>
            <a:ext cx="1388402" cy="361422"/>
            <a:chOff x="7219554" y="1692534"/>
            <a:chExt cx="1102915" cy="361422"/>
          </a:xfrm>
        </p:grpSpPr>
        <p:sp>
          <p:nvSpPr>
            <p:cNvPr id="45" name="平行四边形 44"/>
            <p:cNvSpPr/>
            <p:nvPr/>
          </p:nvSpPr>
          <p:spPr>
            <a:xfrm>
              <a:off x="7219554" y="1692534"/>
              <a:ext cx="850369" cy="57686"/>
            </a:xfrm>
            <a:prstGeom prst="parallelogram">
              <a:avLst>
                <a:gd name="adj" fmla="val 91048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46" name="平行四边形 45"/>
            <p:cNvSpPr/>
            <p:nvPr/>
          </p:nvSpPr>
          <p:spPr>
            <a:xfrm>
              <a:off x="7393385" y="1820119"/>
              <a:ext cx="929084" cy="118219"/>
            </a:xfrm>
            <a:prstGeom prst="parallelogram">
              <a:avLst>
                <a:gd name="adj" fmla="val 67300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7343379" y="2008237"/>
              <a:ext cx="405209" cy="45719"/>
            </a:xfrm>
            <a:prstGeom prst="parallelogram">
              <a:avLst>
                <a:gd name="adj" fmla="val 91048"/>
              </a:avLst>
            </a:prstGeom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 rot="10800000" flipH="1">
            <a:off x="0" y="-2"/>
            <a:ext cx="1968500" cy="3990464"/>
            <a:chOff x="0" y="4422012"/>
            <a:chExt cx="1201676" cy="2435989"/>
          </a:xfrm>
        </p:grpSpPr>
        <p:sp>
          <p:nvSpPr>
            <p:cNvPr id="3" name="任意多边形: 形状 2"/>
            <p:cNvSpPr/>
            <p:nvPr userDrawn="1"/>
          </p:nvSpPr>
          <p:spPr>
            <a:xfrm>
              <a:off x="46028" y="6328836"/>
              <a:ext cx="1155648" cy="529165"/>
            </a:xfrm>
            <a:custGeom>
              <a:avLst/>
              <a:gdLst>
                <a:gd name="connsiteX0" fmla="*/ 577824 w 1155648"/>
                <a:gd name="connsiteY0" fmla="*/ 0 h 529165"/>
                <a:gd name="connsiteX1" fmla="*/ 660890 w 1155648"/>
                <a:gd name="connsiteY1" fmla="*/ 34407 h 529165"/>
                <a:gd name="connsiteX2" fmla="*/ 1155648 w 1155648"/>
                <a:gd name="connsiteY2" fmla="*/ 529165 h 529165"/>
                <a:gd name="connsiteX3" fmla="*/ 0 w 1155648"/>
                <a:gd name="connsiteY3" fmla="*/ 529165 h 529165"/>
                <a:gd name="connsiteX4" fmla="*/ 494758 w 1155648"/>
                <a:gd name="connsiteY4" fmla="*/ 34407 h 529165"/>
                <a:gd name="connsiteX5" fmla="*/ 577824 w 1155648"/>
                <a:gd name="connsiteY5" fmla="*/ 0 h 52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5648" h="529165">
                  <a:moveTo>
                    <a:pt x="577824" y="0"/>
                  </a:moveTo>
                  <a:cubicBezTo>
                    <a:pt x="607888" y="0"/>
                    <a:pt x="637951" y="11469"/>
                    <a:pt x="660890" y="34407"/>
                  </a:cubicBezTo>
                  <a:lnTo>
                    <a:pt x="1155648" y="529165"/>
                  </a:lnTo>
                  <a:lnTo>
                    <a:pt x="0" y="529165"/>
                  </a:lnTo>
                  <a:lnTo>
                    <a:pt x="494758" y="34407"/>
                  </a:lnTo>
                  <a:cubicBezTo>
                    <a:pt x="517696" y="11469"/>
                    <a:pt x="547760" y="0"/>
                    <a:pt x="577824" y="0"/>
                  </a:cubicBezTo>
                  <a:close/>
                </a:path>
              </a:pathLst>
            </a:custGeom>
            <a:solidFill>
              <a:srgbClr val="5E6F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 userDrawn="1"/>
          </p:nvSpPr>
          <p:spPr>
            <a:xfrm>
              <a:off x="0" y="4422012"/>
              <a:ext cx="1138918" cy="2360432"/>
            </a:xfrm>
            <a:custGeom>
              <a:avLst/>
              <a:gdLst>
                <a:gd name="connsiteX0" fmla="*/ 0 w 1138918"/>
                <a:gd name="connsiteY0" fmla="*/ 0 h 2360432"/>
                <a:gd name="connsiteX1" fmla="*/ 1109716 w 1138918"/>
                <a:gd name="connsiteY1" fmla="*/ 1109716 h 2360432"/>
                <a:gd name="connsiteX2" fmla="*/ 1109716 w 1138918"/>
                <a:gd name="connsiteY2" fmla="*/ 1250717 h 2360432"/>
                <a:gd name="connsiteX3" fmla="*/ 0 w 1138918"/>
                <a:gd name="connsiteY3" fmla="*/ 2360432 h 2360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918" h="2360432">
                  <a:moveTo>
                    <a:pt x="0" y="0"/>
                  </a:moveTo>
                  <a:lnTo>
                    <a:pt x="1109716" y="1109716"/>
                  </a:lnTo>
                  <a:cubicBezTo>
                    <a:pt x="1148652" y="1148652"/>
                    <a:pt x="1148652" y="1211781"/>
                    <a:pt x="1109716" y="1250717"/>
                  </a:cubicBezTo>
                  <a:lnTo>
                    <a:pt x="0" y="2360432"/>
                  </a:lnTo>
                  <a:close/>
                </a:path>
              </a:pathLst>
            </a:custGeom>
            <a:solidFill>
              <a:srgbClr val="F8E6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任意多边形: 形状 4"/>
          <p:cNvSpPr/>
          <p:nvPr userDrawn="1"/>
        </p:nvSpPr>
        <p:spPr>
          <a:xfrm>
            <a:off x="10007601" y="5411487"/>
            <a:ext cx="2184399" cy="1446513"/>
          </a:xfrm>
          <a:custGeom>
            <a:avLst/>
            <a:gdLst>
              <a:gd name="connsiteX0" fmla="*/ 1027715 w 1478487"/>
              <a:gd name="connsiteY0" fmla="*/ 0 h 979057"/>
              <a:gd name="connsiteX1" fmla="*/ 1110781 w 1478487"/>
              <a:gd name="connsiteY1" fmla="*/ 34407 h 979057"/>
              <a:gd name="connsiteX2" fmla="*/ 1478487 w 1478487"/>
              <a:gd name="connsiteY2" fmla="*/ 402113 h 979057"/>
              <a:gd name="connsiteX3" fmla="*/ 1478487 w 1478487"/>
              <a:gd name="connsiteY3" fmla="*/ 979057 h 979057"/>
              <a:gd name="connsiteX4" fmla="*/ 0 w 1478487"/>
              <a:gd name="connsiteY4" fmla="*/ 979057 h 979057"/>
              <a:gd name="connsiteX5" fmla="*/ 944650 w 1478487"/>
              <a:gd name="connsiteY5" fmla="*/ 34407 h 979057"/>
              <a:gd name="connsiteX6" fmla="*/ 1027715 w 1478487"/>
              <a:gd name="connsiteY6" fmla="*/ 0 h 9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78487" h="979057">
                <a:moveTo>
                  <a:pt x="1027715" y="0"/>
                </a:moveTo>
                <a:cubicBezTo>
                  <a:pt x="1057779" y="0"/>
                  <a:pt x="1087843" y="11469"/>
                  <a:pt x="1110781" y="34407"/>
                </a:cubicBezTo>
                <a:lnTo>
                  <a:pt x="1478487" y="402113"/>
                </a:lnTo>
                <a:lnTo>
                  <a:pt x="1478487" y="979057"/>
                </a:lnTo>
                <a:lnTo>
                  <a:pt x="0" y="979057"/>
                </a:lnTo>
                <a:lnTo>
                  <a:pt x="944650" y="34407"/>
                </a:lnTo>
                <a:cubicBezTo>
                  <a:pt x="967588" y="11469"/>
                  <a:pt x="997652" y="0"/>
                  <a:pt x="1027715" y="0"/>
                </a:cubicBezTo>
                <a:close/>
              </a:path>
            </a:pathLst>
          </a:custGeom>
          <a:solidFill>
            <a:srgbClr val="F8E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 rot="8128947" flipH="1" flipV="1">
            <a:off x="11115540" y="2622891"/>
            <a:ext cx="1166169" cy="145257"/>
            <a:chOff x="-4699878" y="7904273"/>
            <a:chExt cx="3395193" cy="422901"/>
          </a:xfrm>
          <a:solidFill>
            <a:srgbClr val="5E6FA2"/>
          </a:solidFill>
        </p:grpSpPr>
        <p:sp>
          <p:nvSpPr>
            <p:cNvPr id="8" name="等腰三角形 7"/>
            <p:cNvSpPr/>
            <p:nvPr/>
          </p:nvSpPr>
          <p:spPr>
            <a:xfrm>
              <a:off x="-2521407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>
              <a:off x="-3247564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-3973721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-4699878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-1795250" y="7904273"/>
              <a:ext cx="490565" cy="42290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任意多边形: 形状 27"/>
          <p:cNvSpPr/>
          <p:nvPr userDrawn="1"/>
        </p:nvSpPr>
        <p:spPr>
          <a:xfrm rot="16200000" flipH="1">
            <a:off x="10812029" y="2995580"/>
            <a:ext cx="1893100" cy="866840"/>
          </a:xfrm>
          <a:custGeom>
            <a:avLst/>
            <a:gdLst>
              <a:gd name="connsiteX0" fmla="*/ 577824 w 1155648"/>
              <a:gd name="connsiteY0" fmla="*/ 0 h 529165"/>
              <a:gd name="connsiteX1" fmla="*/ 660890 w 1155648"/>
              <a:gd name="connsiteY1" fmla="*/ 34407 h 529165"/>
              <a:gd name="connsiteX2" fmla="*/ 1155648 w 1155648"/>
              <a:gd name="connsiteY2" fmla="*/ 529165 h 529165"/>
              <a:gd name="connsiteX3" fmla="*/ 0 w 1155648"/>
              <a:gd name="connsiteY3" fmla="*/ 529165 h 529165"/>
              <a:gd name="connsiteX4" fmla="*/ 494758 w 1155648"/>
              <a:gd name="connsiteY4" fmla="*/ 34407 h 529165"/>
              <a:gd name="connsiteX5" fmla="*/ 577824 w 1155648"/>
              <a:gd name="connsiteY5" fmla="*/ 0 h 5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5648" h="529165">
                <a:moveTo>
                  <a:pt x="577824" y="0"/>
                </a:moveTo>
                <a:cubicBezTo>
                  <a:pt x="607888" y="0"/>
                  <a:pt x="637951" y="11469"/>
                  <a:pt x="660890" y="34407"/>
                </a:cubicBezTo>
                <a:lnTo>
                  <a:pt x="1155648" y="529165"/>
                </a:lnTo>
                <a:lnTo>
                  <a:pt x="0" y="529165"/>
                </a:lnTo>
                <a:lnTo>
                  <a:pt x="494758" y="34407"/>
                </a:lnTo>
                <a:cubicBezTo>
                  <a:pt x="517696" y="11469"/>
                  <a:pt x="547760" y="0"/>
                  <a:pt x="577824" y="0"/>
                </a:cubicBezTo>
                <a:close/>
              </a:path>
            </a:pathLst>
          </a:custGeom>
          <a:solidFill>
            <a:srgbClr val="5E6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1"/>
          <p:cNvSpPr/>
          <p:nvPr userDrawn="1"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0" name="矩形 1"/>
          <p:cNvSpPr/>
          <p:nvPr userDrawn="1"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2" name="直角三角形 31"/>
          <p:cNvSpPr/>
          <p:nvPr userDrawn="1"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" y="259080"/>
            <a:ext cx="679408" cy="975515"/>
            <a:chOff x="1" y="1562100"/>
            <a:chExt cx="679408" cy="975515"/>
          </a:xfrm>
        </p:grpSpPr>
        <p:grpSp>
          <p:nvGrpSpPr>
            <p:cNvPr id="3" name="组合 2"/>
            <p:cNvGrpSpPr/>
            <p:nvPr/>
          </p:nvGrpSpPr>
          <p:grpSpPr>
            <a:xfrm rot="8128947">
              <a:off x="12076" y="2392358"/>
              <a:ext cx="667333" cy="145257"/>
              <a:chOff x="-3247564" y="7904273"/>
              <a:chExt cx="1942879" cy="422901"/>
            </a:xfrm>
            <a:solidFill>
              <a:srgbClr val="F8E6EE"/>
            </a:solidFill>
          </p:grpSpPr>
          <p:sp>
            <p:nvSpPr>
              <p:cNvPr id="5" name="等腰三角形 4"/>
              <p:cNvSpPr/>
              <p:nvPr/>
            </p:nvSpPr>
            <p:spPr>
              <a:xfrm>
                <a:off x="-2521407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等腰三角形 5"/>
              <p:cNvSpPr/>
              <p:nvPr/>
            </p:nvSpPr>
            <p:spPr>
              <a:xfrm>
                <a:off x="-3247564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等腰三角形 6"/>
              <p:cNvSpPr/>
              <p:nvPr/>
            </p:nvSpPr>
            <p:spPr>
              <a:xfrm>
                <a:off x="-1795250" y="7904273"/>
                <a:ext cx="490565" cy="422901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" name="任意多边形: 形状 3"/>
            <p:cNvSpPr/>
            <p:nvPr/>
          </p:nvSpPr>
          <p:spPr>
            <a:xfrm>
              <a:off x="1" y="1562100"/>
              <a:ext cx="445611" cy="928950"/>
            </a:xfrm>
            <a:custGeom>
              <a:avLst/>
              <a:gdLst>
                <a:gd name="connsiteX0" fmla="*/ 0 w 787329"/>
                <a:gd name="connsiteY0" fmla="*/ 0 h 1641319"/>
                <a:gd name="connsiteX1" fmla="*/ 763761 w 787329"/>
                <a:gd name="connsiteY1" fmla="*/ 763761 h 1641319"/>
                <a:gd name="connsiteX2" fmla="*/ 763761 w 787329"/>
                <a:gd name="connsiteY2" fmla="*/ 877558 h 1641319"/>
                <a:gd name="connsiteX3" fmla="*/ 0 w 787329"/>
                <a:gd name="connsiteY3" fmla="*/ 1641319 h 164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329" h="1641319">
                  <a:moveTo>
                    <a:pt x="0" y="0"/>
                  </a:moveTo>
                  <a:lnTo>
                    <a:pt x="763761" y="763761"/>
                  </a:lnTo>
                  <a:cubicBezTo>
                    <a:pt x="795185" y="795185"/>
                    <a:pt x="795185" y="846133"/>
                    <a:pt x="763761" y="877558"/>
                  </a:cubicBezTo>
                  <a:lnTo>
                    <a:pt x="0" y="1641319"/>
                  </a:lnTo>
                  <a:close/>
                </a:path>
              </a:pathLst>
            </a:custGeom>
            <a:solidFill>
              <a:srgbClr val="5E6F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线连接符 5"/>
          <p:cNvCxnSpPr/>
          <p:nvPr userDrawn="1"/>
        </p:nvCxnSpPr>
        <p:spPr>
          <a:xfrm>
            <a:off x="660400" y="1028700"/>
            <a:ext cx="1153160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形状 24"/>
          <p:cNvSpPr/>
          <p:nvPr userDrawn="1"/>
        </p:nvSpPr>
        <p:spPr>
          <a:xfrm flipH="1">
            <a:off x="0" y="6355758"/>
            <a:ext cx="12192000" cy="502242"/>
          </a:xfrm>
          <a:custGeom>
            <a:avLst/>
            <a:gdLst>
              <a:gd name="connsiteX0" fmla="*/ 12192000 w 12192000"/>
              <a:gd name="connsiteY0" fmla="*/ 0 h 329410"/>
              <a:gd name="connsiteX1" fmla="*/ 12192000 w 12192000"/>
              <a:gd name="connsiteY1" fmla="*/ 329410 h 329410"/>
              <a:gd name="connsiteX2" fmla="*/ 0 w 12192000"/>
              <a:gd name="connsiteY2" fmla="*/ 329410 h 329410"/>
              <a:gd name="connsiteX3" fmla="*/ 0 w 12192000"/>
              <a:gd name="connsiteY3" fmla="*/ 29375 h 329410"/>
              <a:gd name="connsiteX4" fmla="*/ 577089 w 12192000"/>
              <a:gd name="connsiteY4" fmla="*/ 49593 h 329410"/>
              <a:gd name="connsiteX5" fmla="*/ 5704114 w 12192000"/>
              <a:gd name="connsiteY5" fmla="*/ 124873 h 329410"/>
              <a:gd name="connsiteX6" fmla="*/ 11982536 w 12192000"/>
              <a:gd name="connsiteY6" fmla="*/ 9255 h 329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9410">
                <a:moveTo>
                  <a:pt x="12192000" y="0"/>
                </a:moveTo>
                <a:lnTo>
                  <a:pt x="12192000" y="329410"/>
                </a:lnTo>
                <a:lnTo>
                  <a:pt x="0" y="329410"/>
                </a:lnTo>
                <a:lnTo>
                  <a:pt x="0" y="29375"/>
                </a:lnTo>
                <a:lnTo>
                  <a:pt x="577089" y="49593"/>
                </a:lnTo>
                <a:cubicBezTo>
                  <a:pt x="2152931" y="98068"/>
                  <a:pt x="3885480" y="124873"/>
                  <a:pt x="5704114" y="124873"/>
                </a:cubicBezTo>
                <a:cubicBezTo>
                  <a:pt x="7977407" y="124873"/>
                  <a:pt x="10116192" y="82990"/>
                  <a:pt x="11982536" y="9255"/>
                </a:cubicBezTo>
                <a:close/>
              </a:path>
            </a:pathLst>
          </a:custGeom>
          <a:solidFill>
            <a:schemeClr val="accent1">
              <a:lumMod val="10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2.jpe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3275971" y="2708209"/>
            <a:ext cx="5080000" cy="6153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开源初学者的学习导航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79955" y="2172825"/>
            <a:ext cx="8229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年第三届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“OpenRank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杯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”OpenSODA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大赛参赛作品方案设计</a:t>
            </a:r>
            <a:endParaRPr lang="zh-CN" altLang="en-US" sz="24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211937" y="4637068"/>
            <a:ext cx="1532236" cy="245745"/>
            <a:chOff x="4095451" y="4640913"/>
            <a:chExt cx="1532236" cy="245745"/>
          </a:xfrm>
        </p:grpSpPr>
        <p:sp>
          <p:nvSpPr>
            <p:cNvPr id="31" name="矩形 30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408487" y="4640913"/>
              <a:ext cx="12192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队长：陈禹航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390505" y="4669453"/>
            <a:ext cx="1532236" cy="245745"/>
            <a:chOff x="4095451" y="4640913"/>
            <a:chExt cx="1532236" cy="245745"/>
          </a:xfrm>
        </p:grpSpPr>
        <p:sp>
          <p:nvSpPr>
            <p:cNvPr id="34" name="矩形 33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408487" y="4640913"/>
              <a:ext cx="12192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队名：大橙子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211937" y="5065693"/>
            <a:ext cx="2141836" cy="245745"/>
            <a:chOff x="4095451" y="4640913"/>
            <a:chExt cx="2141836" cy="245745"/>
          </a:xfrm>
        </p:grpSpPr>
        <p:sp>
          <p:nvSpPr>
            <p:cNvPr id="3" name="矩形 2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08487" y="4640913"/>
              <a:ext cx="18288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学校：华东师范大学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11937" y="5494318"/>
            <a:ext cx="3665836" cy="245745"/>
            <a:chOff x="4095451" y="4640913"/>
            <a:chExt cx="3665836" cy="245745"/>
          </a:xfrm>
        </p:grpSpPr>
        <p:sp>
          <p:nvSpPr>
            <p:cNvPr id="6" name="矩形 5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408487" y="4640913"/>
              <a:ext cx="33528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邮箱：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10245501427@stu.ecnu.edu.cn</a:t>
              </a:r>
              <a:endParaRPr lang="en-US" altLang="zh-CN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615565" y="3524250"/>
            <a:ext cx="8343265" cy="15608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基于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“OpenRank”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开源数字生态分析与应用创新赛提供的开源项目，使用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OpenDigger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提供的数据，使数据可视化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5070" y="5194300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开源新手技术领域趋势可视化与入门指导平台</a:t>
            </a:r>
            <a:endParaRPr lang="zh-CN" altLang="en-US"/>
          </a:p>
          <a:p>
            <a:r>
              <a:rPr lang="zh-CN" altLang="en-US"/>
              <a:t>开源技术领域有关数据的分析与建模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/>
          <p:cNvSpPr txBox="1"/>
          <p:nvPr>
            <p:custDataLst>
              <p:tags r:id="rId1"/>
            </p:custDataLst>
          </p:nvPr>
        </p:nvSpPr>
        <p:spPr>
          <a:xfrm>
            <a:off x="1828637" y="2817078"/>
            <a:ext cx="101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项目介绍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1" name="文本框 50"/>
          <p:cNvSpPr txBox="1"/>
          <p:nvPr>
            <p:custDataLst>
              <p:tags r:id="rId2"/>
            </p:custDataLst>
          </p:nvPr>
        </p:nvSpPr>
        <p:spPr>
          <a:xfrm>
            <a:off x="3119399" y="3271003"/>
            <a:ext cx="466474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3200" dirty="0">
                <a:gradFill>
                  <a:gsLst>
                    <a:gs pos="0">
                      <a:schemeClr val="accent1"/>
                    </a:gs>
                    <a:gs pos="77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+mj-ea"/>
                <a:ea typeface="+mj-ea"/>
              </a:rPr>
              <a:t>01</a:t>
            </a:r>
            <a:endParaRPr lang="zh-CN" altLang="en-US" sz="3200" dirty="0">
              <a:gradFill>
                <a:gsLst>
                  <a:gs pos="0">
                    <a:schemeClr val="accent1"/>
                  </a:gs>
                  <a:gs pos="77000">
                    <a:schemeClr val="accent1">
                      <a:alpha val="0"/>
                    </a:scheme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2" name="文本框 51"/>
          <p:cNvSpPr txBox="1"/>
          <p:nvPr>
            <p:custDataLst>
              <p:tags r:id="rId3"/>
            </p:custDataLst>
          </p:nvPr>
        </p:nvSpPr>
        <p:spPr>
          <a:xfrm>
            <a:off x="1767840" y="4249003"/>
            <a:ext cx="101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技术路线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4" name="文本框 53"/>
          <p:cNvSpPr txBox="1"/>
          <p:nvPr>
            <p:custDataLst>
              <p:tags r:id="rId4"/>
            </p:custDataLst>
          </p:nvPr>
        </p:nvSpPr>
        <p:spPr>
          <a:xfrm>
            <a:off x="5862763" y="3271003"/>
            <a:ext cx="538609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3200" dirty="0">
                <a:gradFill>
                  <a:gsLst>
                    <a:gs pos="0">
                      <a:schemeClr val="accent1"/>
                    </a:gs>
                    <a:gs pos="77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+mj-ea"/>
                <a:ea typeface="+mj-ea"/>
              </a:rPr>
              <a:t>02</a:t>
            </a:r>
            <a:endParaRPr lang="zh-CN" altLang="en-US" sz="3200" dirty="0">
              <a:gradFill>
                <a:gsLst>
                  <a:gs pos="0">
                    <a:schemeClr val="accent1"/>
                  </a:gs>
                  <a:gs pos="77000">
                    <a:schemeClr val="accent1">
                      <a:alpha val="0"/>
                    </a:scheme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5" name="文本框 54"/>
          <p:cNvSpPr txBox="1"/>
          <p:nvPr>
            <p:custDataLst>
              <p:tags r:id="rId5"/>
            </p:custDataLst>
          </p:nvPr>
        </p:nvSpPr>
        <p:spPr>
          <a:xfrm>
            <a:off x="2844964" y="4906863"/>
            <a:ext cx="101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数据使用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7" name="文本框 56"/>
          <p:cNvSpPr txBox="1"/>
          <p:nvPr>
            <p:custDataLst>
              <p:tags r:id="rId6"/>
            </p:custDataLst>
          </p:nvPr>
        </p:nvSpPr>
        <p:spPr>
          <a:xfrm>
            <a:off x="3119727" y="4414003"/>
            <a:ext cx="538609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3200" dirty="0">
                <a:gradFill>
                  <a:gsLst>
                    <a:gs pos="0">
                      <a:schemeClr val="accent1"/>
                    </a:gs>
                    <a:gs pos="77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+mj-ea"/>
                <a:ea typeface="+mj-ea"/>
              </a:rPr>
              <a:t>03</a:t>
            </a:r>
            <a:endParaRPr lang="zh-CN" altLang="en-US" sz="3200" dirty="0">
              <a:gradFill>
                <a:gsLst>
                  <a:gs pos="0">
                    <a:schemeClr val="accent1"/>
                  </a:gs>
                  <a:gs pos="77000">
                    <a:schemeClr val="accent1">
                      <a:alpha val="0"/>
                    </a:scheme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8" name="文本框 57"/>
          <p:cNvSpPr txBox="1"/>
          <p:nvPr>
            <p:custDataLst>
              <p:tags r:id="rId7"/>
            </p:custDataLst>
          </p:nvPr>
        </p:nvSpPr>
        <p:spPr>
          <a:xfrm>
            <a:off x="4989032" y="4850983"/>
            <a:ext cx="228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使用工具与技术架构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5952134" y="4299068"/>
            <a:ext cx="538609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3200" dirty="0">
                <a:gradFill>
                  <a:gsLst>
                    <a:gs pos="0">
                      <a:schemeClr val="accent1"/>
                    </a:gs>
                    <a:gs pos="77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+mj-ea"/>
                <a:ea typeface="+mj-ea"/>
              </a:rPr>
              <a:t>04</a:t>
            </a:r>
            <a:endParaRPr lang="zh-CN" altLang="en-US" sz="3200" dirty="0">
              <a:gradFill>
                <a:gsLst>
                  <a:gs pos="0">
                    <a:schemeClr val="accent1"/>
                  </a:gs>
                  <a:gs pos="77000">
                    <a:schemeClr val="accent1">
                      <a:alpha val="0"/>
                    </a:scheme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9"/>
            </p:custDataLst>
          </p:nvPr>
        </p:nvSpPr>
        <p:spPr>
          <a:xfrm>
            <a:off x="2442845" y="3763863"/>
            <a:ext cx="1778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应用场景与作用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10"/>
            </p:custDataLst>
          </p:nvPr>
        </p:nvSpPr>
        <p:spPr>
          <a:xfrm>
            <a:off x="4877435" y="3814663"/>
            <a:ext cx="2540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</a:rPr>
              <a:t>具体功能与使用的数据</a:t>
            </a:r>
            <a:endParaRPr lang="zh-CN" altLang="en-US" sz="2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同侧圆角矩形 4"/>
          <p:cNvSpPr/>
          <p:nvPr/>
        </p:nvSpPr>
        <p:spPr>
          <a:xfrm>
            <a:off x="4770784" y="1278835"/>
            <a:ext cx="2650434" cy="549965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第一部分</a:t>
            </a:r>
            <a:endParaRPr kumimoji="1" lang="zh-CN" altLang="en-US" sz="24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24605" y="2570480"/>
            <a:ext cx="4876800" cy="1477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9600" dirty="0">
                <a:solidFill>
                  <a:schemeClr val="accent1"/>
                </a:solidFill>
                <a:latin typeface="+mj-ea"/>
                <a:ea typeface="+mj-ea"/>
              </a:rPr>
              <a:t>项目介绍</a:t>
            </a:r>
            <a:endParaRPr kumimoji="1" lang="zh-CN" altLang="en-US" sz="9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23456" y="458512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应用场景与作用</a:t>
            </a:r>
            <a:endParaRPr kumimoji="1"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02982" y="1348100"/>
            <a:ext cx="2307724" cy="29585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5889" y="3278984"/>
            <a:ext cx="2307724" cy="29585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文本框 11"/>
          <p:cNvSpPr txBox="1"/>
          <p:nvPr>
            <p:custDataLst>
              <p:tags r:id="rId1"/>
            </p:custDataLst>
          </p:nvPr>
        </p:nvSpPr>
        <p:spPr>
          <a:xfrm>
            <a:off x="6826858" y="1941643"/>
            <a:ext cx="4521583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基于</a:t>
            </a:r>
            <a:r>
              <a:rPr lang="en-US" altLang="zh-CN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OpenDigger</a:t>
            </a: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数据，为刚接触开源新手提供技术趋势洞察</a:t>
            </a:r>
            <a:r>
              <a:rPr lang="en-US" altLang="zh-CN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+</a:t>
            </a: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新手友好项目直观预览</a:t>
            </a:r>
            <a:r>
              <a:rPr lang="en-US" altLang="zh-CN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+</a:t>
            </a: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入门路径规划一站式工具，解决</a:t>
            </a:r>
            <a:r>
              <a:rPr lang="en-US" altLang="zh-CN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“</a:t>
            </a: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不知道学什么、选什么项目、怎么入门</a:t>
            </a:r>
            <a:r>
              <a:rPr lang="en-US" altLang="zh-CN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”</a:t>
            </a:r>
            <a:r>
              <a:rPr lang="zh-CN" altLang="en-US" sz="2400" dirty="0">
                <a:solidFill>
                  <a:srgbClr val="444F5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rPr>
              <a:t>的核心问题，关注初学者的实际需求</a:t>
            </a:r>
            <a:endParaRPr lang="zh-CN" altLang="en-US" sz="2400" dirty="0">
              <a:solidFill>
                <a:srgbClr val="444F56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pic>
        <p:nvPicPr>
          <p:cNvPr id="27" name="图片 26" descr="显示的方向指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1661795"/>
            <a:ext cx="515747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23456" y="458512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具体功能与使用的数据</a:t>
            </a:r>
            <a:endParaRPr kumimoji="1"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7250" y="1112520"/>
            <a:ext cx="10955655" cy="4971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1.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技术趋势分析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功能：可视化展示当下最适合新手的开源技术领域热度（如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 AI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工具链、轻量化框架、国产开源生态），避免新手盲目跟风。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数据来源（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OpenDigger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）：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各技术领域的星标数，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Fork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数，贡献者数，邮箱后缀种类数；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呈现形式：技术热度表格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 +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热度分布扇形图。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2.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项目推荐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功能：根据项目的新手友好度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数据来源（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OpenDigger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）：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 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核心：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PR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平均时长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3. 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入门路径规划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功能：为每个推荐项目提供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 “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分步入门指南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”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，降低新手实操门槛。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数据支撑与落地：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基于开源各项目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PR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平均时长，整理详细的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4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步入门流程，包含环境搭建、跑通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Demo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、代码阅读、提交</a:t>
            </a:r>
            <a:r>
              <a:rPr lang="en-US" altLang="zh-CN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PR</a:t>
            </a:r>
            <a:r>
              <a:rPr lang="zh-CN" altLang="en-US">
                <a:latin typeface="方正兰亭黑简体" panose="02000000000000000000" charset="-122"/>
                <a:ea typeface="方正兰亭黑简体" panose="02000000000000000000" charset="-122"/>
                <a:cs typeface="方正兰亭黑简体" panose="02000000000000000000" charset="-122"/>
              </a:rPr>
              <a:t>全步骤</a:t>
            </a:r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  <a:p>
            <a:endParaRPr lang="zh-CN" altLang="en-US">
              <a:latin typeface="方正兰亭黑简体" panose="02000000000000000000" charset="-122"/>
              <a:ea typeface="方正兰亭黑简体" panose="02000000000000000000" charset="-122"/>
              <a:cs typeface="方正兰亭黑简体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同侧圆角矩形 4"/>
          <p:cNvSpPr/>
          <p:nvPr/>
        </p:nvSpPr>
        <p:spPr>
          <a:xfrm>
            <a:off x="4770784" y="1278835"/>
            <a:ext cx="2650434" cy="549965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第二部分</a:t>
            </a:r>
            <a:endParaRPr kumimoji="1" lang="zh-CN" altLang="en-US" sz="24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589655" y="2519680"/>
            <a:ext cx="4876800" cy="1477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9600" dirty="0">
                <a:solidFill>
                  <a:schemeClr val="accent1"/>
                </a:solidFill>
                <a:latin typeface="+mj-ea"/>
                <a:ea typeface="+mj-ea"/>
              </a:rPr>
              <a:t>技术路线</a:t>
            </a:r>
            <a:endParaRPr kumimoji="1" lang="zh-CN" altLang="en-US" sz="9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23456" y="458512"/>
            <a:ext cx="38931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8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OpenDigger </a:t>
            </a:r>
            <a:r>
              <a:rPr kumimoji="1" lang="zh-CN" altLang="en-US" sz="28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数据使用</a:t>
            </a:r>
            <a:endParaRPr kumimoji="1"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2"/>
          <p:cNvSpPr txBox="1"/>
          <p:nvPr>
            <p:custDataLst>
              <p:tags r:id="rId1"/>
            </p:custDataLst>
          </p:nvPr>
        </p:nvSpPr>
        <p:spPr>
          <a:xfrm flipH="1">
            <a:off x="3449955" y="3190240"/>
            <a:ext cx="6004560" cy="13976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>
                <a:rot lat="0" lon="0" rev="0"/>
              </a:lightRig>
            </a:scene3d>
            <a:sp3d prstMaterial="matte">
              <a:extrusionClr>
                <a:srgbClr val="FFDEAD"/>
              </a:extrusionClr>
              <a:contourClr>
                <a:srgbClr val="690D1C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数据筛选原则：只提取新手决策相关的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类核心数据，避免开发复杂度过高：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如技术领域趋势数据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项目适配性数据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社区支持数据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时序贡献数据。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4" name="文本框 22"/>
          <p:cNvSpPr txBox="1"/>
          <p:nvPr>
            <p:custDataLst>
              <p:tags r:id="rId2"/>
            </p:custDataLst>
          </p:nvPr>
        </p:nvSpPr>
        <p:spPr>
          <a:xfrm flipH="1">
            <a:off x="3406140" y="5016088"/>
            <a:ext cx="5688000" cy="5588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  <a:scene3d>
              <a:camera prst="orthographicFront"/>
              <a:lightRig rig="threePt" dir="t">
                <a:rot lat="0" lon="0" rev="0"/>
              </a:lightRig>
            </a:scene3d>
            <a:sp3d prstMaterial="matte">
              <a:extrusionClr>
                <a:srgbClr val="FFDEAD"/>
              </a:extrusionClr>
              <a:contourClr>
                <a:srgbClr val="690D1C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数据接入方式：赛事提供的数据获取技术领域数据，通过代码用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VScode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导出到建的文件中，不全量接入。</a:t>
            </a:r>
            <a:endParaRPr lang="zh-CN" altLang="en-US" sz="1400" dirty="0">
              <a:solidFill>
                <a:schemeClr val="tx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005" y="1426845"/>
            <a:ext cx="6894830" cy="1317625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432560" y="3320415"/>
            <a:ext cx="0" cy="2533650"/>
          </a:xfrm>
          <a:prstGeom prst="line">
            <a:avLst/>
          </a:prstGeom>
          <a:ln w="12700">
            <a:gradFill>
              <a:gsLst>
                <a:gs pos="49000">
                  <a:srgbClr val="DD1715">
                    <a:alpha val="56000"/>
                  </a:srgbClr>
                </a:gs>
                <a:gs pos="100000">
                  <a:srgbClr val="E60000">
                    <a:alpha val="0"/>
                  </a:srgbClr>
                </a:gs>
                <a:gs pos="0">
                  <a:srgbClr val="DE2400">
                    <a:alpha val="0"/>
                  </a:srgb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664335" y="3536800"/>
            <a:ext cx="721360" cy="55816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effectLst>
            <a:reflection blurRad="292100" stA="76000" endA="300" endPos="20000" dir="5400000" sy="-100000" algn="bl" rotWithShape="0"/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01</a:t>
            </a:r>
            <a:endParaRPr lang="en-US" altLang="zh-CN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664335" y="4959050"/>
            <a:ext cx="721360" cy="558165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effectLst>
            <a:reflection blurRad="292100" stA="76000" endA="300" endPos="20000" dir="5400000" sy="-100000" algn="bl" rotWithShape="0"/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思源黑体 CN Regular" panose="020B0500000000000000" pitchFamily="34" charset="-122"/>
              </a:rPr>
              <a:t>02</a:t>
            </a:r>
            <a:endParaRPr lang="en-US" altLang="zh-CN" sz="240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23456" y="458512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使用工具与技术架构</a:t>
            </a:r>
            <a:endParaRPr kumimoji="1"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704850" y="1888908"/>
            <a:ext cx="10782300" cy="3485515"/>
            <a:chOff x="1075" y="2834"/>
            <a:chExt cx="16980" cy="5489"/>
          </a:xfrm>
        </p:grpSpPr>
        <p:pic>
          <p:nvPicPr>
            <p:cNvPr id="3" name="图形 2" descr="templates\docerresourceshop\icons\\32313538393032393b32313538383638393bb3ddc2d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694" y="4148"/>
              <a:ext cx="2454" cy="245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54" h="2454">
                  <a:moveTo>
                    <a:pt x="1227" y="728"/>
                  </a:moveTo>
                  <a:cubicBezTo>
                    <a:pt x="951" y="728"/>
                    <a:pt x="728" y="951"/>
                    <a:pt x="728" y="1227"/>
                  </a:cubicBezTo>
                  <a:cubicBezTo>
                    <a:pt x="728" y="1503"/>
                    <a:pt x="951" y="1726"/>
                    <a:pt x="1227" y="1726"/>
                  </a:cubicBezTo>
                  <a:cubicBezTo>
                    <a:pt x="1503" y="1726"/>
                    <a:pt x="1726" y="1503"/>
                    <a:pt x="1726" y="1227"/>
                  </a:cubicBezTo>
                  <a:cubicBezTo>
                    <a:pt x="1726" y="951"/>
                    <a:pt x="1503" y="728"/>
                    <a:pt x="1227" y="728"/>
                  </a:cubicBezTo>
                  <a:close/>
                  <a:moveTo>
                    <a:pt x="0" y="0"/>
                  </a:moveTo>
                  <a:lnTo>
                    <a:pt x="2454" y="0"/>
                  </a:lnTo>
                  <a:lnTo>
                    <a:pt x="2454" y="2454"/>
                  </a:lnTo>
                  <a:lnTo>
                    <a:pt x="0" y="24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4" name="图形 3" descr="templates\docerresourceshop\icons\\32313538393032393b32313538383638393bb3ddc2d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336" y="2834"/>
              <a:ext cx="3170" cy="317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54" h="2454">
                  <a:moveTo>
                    <a:pt x="1227" y="728"/>
                  </a:moveTo>
                  <a:cubicBezTo>
                    <a:pt x="951" y="728"/>
                    <a:pt x="728" y="951"/>
                    <a:pt x="728" y="1227"/>
                  </a:cubicBezTo>
                  <a:cubicBezTo>
                    <a:pt x="728" y="1503"/>
                    <a:pt x="951" y="1726"/>
                    <a:pt x="1227" y="1726"/>
                  </a:cubicBezTo>
                  <a:cubicBezTo>
                    <a:pt x="1503" y="1726"/>
                    <a:pt x="1726" y="1503"/>
                    <a:pt x="1726" y="1227"/>
                  </a:cubicBezTo>
                  <a:cubicBezTo>
                    <a:pt x="1726" y="951"/>
                    <a:pt x="1503" y="728"/>
                    <a:pt x="1227" y="728"/>
                  </a:cubicBezTo>
                  <a:close/>
                  <a:moveTo>
                    <a:pt x="0" y="0"/>
                  </a:moveTo>
                  <a:lnTo>
                    <a:pt x="2454" y="0"/>
                  </a:lnTo>
                  <a:lnTo>
                    <a:pt x="2454" y="2454"/>
                  </a:lnTo>
                  <a:lnTo>
                    <a:pt x="0" y="24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cxnSp>
          <p:nvCxnSpPr>
            <p:cNvPr id="5" name="直接连接符 4"/>
            <p:cNvCxnSpPr/>
            <p:nvPr>
              <p:custDataLst>
                <p:tags r:id="rId6"/>
              </p:custDataLst>
            </p:nvPr>
          </p:nvCxnSpPr>
          <p:spPr>
            <a:xfrm>
              <a:off x="12644" y="4419"/>
              <a:ext cx="1331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14224" y="3179"/>
              <a:ext cx="3831" cy="2481"/>
              <a:chOff x="12124" y="2592"/>
              <a:chExt cx="3831" cy="2481"/>
            </a:xfrm>
          </p:grpSpPr>
          <p:sp>
            <p:nvSpPr>
              <p:cNvPr id="18" name="文本框 25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12124" y="2592"/>
                <a:ext cx="290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rPr>
                  <a:t>可视化层</a:t>
                </a:r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思源黑体 CN Regular" panose="020B0500000000000000" pitchFamily="34" charset="-122"/>
                </a:endParaRPr>
              </a:p>
            </p:txBody>
          </p:sp>
          <p:sp>
            <p:nvSpPr>
              <p:cNvPr id="19" name="文本框 26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12124" y="3076"/>
                <a:ext cx="3831" cy="19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50000"/>
                  </a:lnSpc>
                </a:pPr>
                <a:r>
                  <a:rPr lang="en-US" altLang="zh-CN" sz="13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rPr>
                  <a:t>DataEase</a:t>
                </a:r>
                <a:r>
                  <a:rPr lang="zh-CN" altLang="en-US" sz="13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rPr>
                  <a:t>（新手友好度排行榜大屏，技术领域热度大屏，热度分布直观图）</a:t>
                </a:r>
                <a:endParaRPr lang="zh-CN" altLang="en-US" sz="13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ea"/>
                  <a:sym typeface="思源黑体 CN Regular" panose="020B0500000000000000" pitchFamily="34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702" y="5842"/>
              <a:ext cx="5881" cy="2481"/>
              <a:chOff x="10926" y="5835"/>
              <a:chExt cx="5881" cy="2481"/>
            </a:xfrm>
          </p:grpSpPr>
          <p:cxnSp>
            <p:nvCxnSpPr>
              <p:cNvPr id="14" name="直接连接符 13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10926" y="7075"/>
                <a:ext cx="1331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组合 14"/>
              <p:cNvGrpSpPr/>
              <p:nvPr/>
            </p:nvGrpSpPr>
            <p:grpSpPr>
              <a:xfrm>
                <a:off x="12506" y="5835"/>
                <a:ext cx="4301" cy="2481"/>
                <a:chOff x="12124" y="2592"/>
                <a:chExt cx="4301" cy="2481"/>
              </a:xfrm>
            </p:grpSpPr>
            <p:sp>
              <p:nvSpPr>
                <p:cNvPr id="16" name="文本框 15"/>
                <p:cNvSpPr txBox="1"/>
                <p:nvPr>
                  <p:custDataLst>
                    <p:tags r:id="rId10"/>
                  </p:custDataLst>
                </p:nvPr>
              </p:nvSpPr>
              <p:spPr>
                <a:xfrm flipH="1">
                  <a:off x="12124" y="2592"/>
                  <a:ext cx="2900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zh-CN" altLang="en-US" sz="20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交互层</a:t>
                  </a:r>
                  <a:endParaRPr lang="zh-CN" altLang="en-US"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endParaRPr>
                </a:p>
              </p:txBody>
            </p:sp>
            <p:sp>
              <p:nvSpPr>
                <p:cNvPr id="17" name="文本框 16"/>
                <p:cNvSpPr txBox="1"/>
                <p:nvPr>
                  <p:custDataLst>
                    <p:tags r:id="rId11"/>
                  </p:custDataLst>
                </p:nvPr>
              </p:nvSpPr>
              <p:spPr>
                <a:xfrm flipH="1">
                  <a:off x="12124" y="2947"/>
                  <a:ext cx="4301" cy="21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50000"/>
                    </a:lnSpc>
                  </a:pPr>
                  <a:r>
                    <a:rPr lang="en-US" altLang="zh-CN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Web</a:t>
                  </a:r>
                  <a:r>
                    <a:rPr lang="zh-CN" altLang="en-US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界面：趋势分析，数据可视化，路径规划，简洁明了</a:t>
                  </a:r>
                  <a:r>
                    <a:rPr lang="en-US" altLang="zh-CN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+</a:t>
                  </a:r>
                  <a:r>
                    <a:rPr lang="zh-CN" altLang="en-US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开源项目入门指南</a:t>
                  </a:r>
                  <a:endParaRPr lang="zh-CN" altLang="en-US" sz="13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 flipH="1">
              <a:off x="1075" y="4004"/>
              <a:ext cx="5411" cy="2625"/>
              <a:chOff x="1284" y="4004"/>
              <a:chExt cx="5411" cy="2625"/>
            </a:xfrm>
          </p:grpSpPr>
          <p:cxnSp>
            <p:nvCxnSpPr>
              <p:cNvPr id="9" name="直接连接符 8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284" y="5388"/>
                <a:ext cx="1331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组合 9"/>
              <p:cNvGrpSpPr/>
              <p:nvPr/>
            </p:nvGrpSpPr>
            <p:grpSpPr>
              <a:xfrm>
                <a:off x="2864" y="4004"/>
                <a:ext cx="3831" cy="2625"/>
                <a:chOff x="12124" y="2448"/>
                <a:chExt cx="3831" cy="2625"/>
              </a:xfrm>
            </p:grpSpPr>
            <p:sp>
              <p:nvSpPr>
                <p:cNvPr id="11" name="文本框 29"/>
                <p:cNvSpPr txBox="1"/>
                <p:nvPr>
                  <p:custDataLst>
                    <p:tags r:id="rId13"/>
                  </p:custDataLst>
                </p:nvPr>
              </p:nvSpPr>
              <p:spPr>
                <a:xfrm flipH="1">
                  <a:off x="12394" y="2448"/>
                  <a:ext cx="2900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/>
                  <a:r>
                    <a:rPr lang="zh-CN" altLang="en-US" sz="20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数据层</a:t>
                  </a:r>
                  <a:endParaRPr lang="zh-CN" altLang="en-US"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endParaRPr>
                </a:p>
              </p:txBody>
            </p:sp>
            <p:sp>
              <p:nvSpPr>
                <p:cNvPr id="12" name="文本框 30"/>
                <p:cNvSpPr txBox="1"/>
                <p:nvPr>
                  <p:custDataLst>
                    <p:tags r:id="rId14"/>
                  </p:custDataLst>
                </p:nvPr>
              </p:nvSpPr>
              <p:spPr>
                <a:xfrm flipH="1">
                  <a:off x="12124" y="3076"/>
                  <a:ext cx="3831" cy="1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r">
                    <a:lnSpc>
                      <a:spcPct val="150000"/>
                    </a:lnSpc>
                  </a:pPr>
                  <a:r>
                    <a:rPr lang="en-US" altLang="zh-CN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OpenDigger</a:t>
                  </a:r>
                  <a:r>
                    <a:rPr lang="zh-CN" altLang="en-US" sz="1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思源黑体 CN Regular" panose="020B0500000000000000" pitchFamily="34" charset="-122"/>
                    </a:rPr>
                    <a:t>（赛事提供数据进行筛选）</a:t>
                  </a:r>
                  <a:endParaRPr lang="zh-CN" altLang="en-US" sz="13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思源黑体 CN Regular" panose="020B0500000000000000" pitchFamily="34" charset="-122"/>
                  </a:endParaRPr>
                </a:p>
              </p:txBody>
            </p:sp>
          </p:grpSp>
        </p:grpSp>
      </p:grpSp>
      <p:pic>
        <p:nvPicPr>
          <p:cNvPr id="20" name="图形 19" descr="templates\docerresourceshop\icons\\32313538393032393b32313538383638393bb3ddc2d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700394" y="4106328"/>
            <a:ext cx="1125855" cy="1125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454" h="2454">
                <a:moveTo>
                  <a:pt x="1227" y="728"/>
                </a:moveTo>
                <a:cubicBezTo>
                  <a:pt x="951" y="728"/>
                  <a:pt x="728" y="951"/>
                  <a:pt x="728" y="1227"/>
                </a:cubicBezTo>
                <a:cubicBezTo>
                  <a:pt x="728" y="1503"/>
                  <a:pt x="951" y="1726"/>
                  <a:pt x="1227" y="1726"/>
                </a:cubicBezTo>
                <a:cubicBezTo>
                  <a:pt x="1503" y="1726"/>
                  <a:pt x="1726" y="1503"/>
                  <a:pt x="1726" y="1227"/>
                </a:cubicBezTo>
                <a:cubicBezTo>
                  <a:pt x="1726" y="951"/>
                  <a:pt x="1503" y="728"/>
                  <a:pt x="1227" y="728"/>
                </a:cubicBezTo>
                <a:close/>
                <a:moveTo>
                  <a:pt x="0" y="0"/>
                </a:moveTo>
                <a:lnTo>
                  <a:pt x="2454" y="0"/>
                </a:lnTo>
                <a:lnTo>
                  <a:pt x="2454" y="2454"/>
                </a:lnTo>
                <a:lnTo>
                  <a:pt x="0" y="245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/>
        </p:nvSpPr>
        <p:spPr>
          <a:xfrm>
            <a:off x="2139950" y="4838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64335" y="1214120"/>
            <a:ext cx="7595235" cy="5013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一、项目结构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opensourceguidetool/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项目根目录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data/            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数据文件夹（存储导出、处理后的数据）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raw_data/    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原始数据（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OpenDigger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）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topic_data.csv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技术领域原始数据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repo_list.csv  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领域热度原始数据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└──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pr_duration.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新手入门周期原始数据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基础代码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include</a:t>
            </a:r>
            <a:endParaRPr lang="en-US" altLang="zh-CN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└──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src</a:t>
            </a:r>
            <a:endParaRPr lang="en-US" altLang="zh-CN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build_and_run.sh</a:t>
            </a:r>
            <a:endParaRPr lang="en-US" altLang="zh-CN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│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  </a:t>
            </a:r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└──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extract_data.py  #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提取数据到数据文件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path_guide.md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项目分步入门指南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├──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网页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(index.html)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核心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Web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页面（整合可视化、入门指南）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└──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 README.md         #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项目总说明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二、核心运行：打开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Web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一站式界面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1.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找到项目中的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index.html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文件；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2.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双击该文件，自动用默认浏览器打开；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3. 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页面加载后，可直接使用：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技术趋势可视化：直接显示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DataEase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嵌入的表格，排行榜和扇形图；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  <a:p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入门路径查看：点击页面中的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“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项目入门指南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”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链接，自动打开</a:t>
            </a:r>
            <a:r>
              <a:rPr lang="en-US" altLang="zh-CN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guide/path_guide.md</a:t>
            </a:r>
            <a:r>
              <a:rPr lang="zh-CN" altLang="en-US" sz="1400">
                <a:latin typeface="华康行楷体 W5" panose="03000509000000000000" charset="-122"/>
                <a:ea typeface="华康行楷体 W5" panose="03000509000000000000" charset="-122"/>
                <a:cs typeface="华康行楷体 W5" panose="03000509000000000000" charset="-122"/>
              </a:rPr>
              <a:t>文件。</a:t>
            </a:r>
            <a:endParaRPr lang="zh-CN" altLang="en-US" sz="1400">
              <a:latin typeface="华康行楷体 W5" panose="03000509000000000000" charset="-122"/>
              <a:ea typeface="华康行楷体 W5" panose="03000509000000000000" charset="-122"/>
              <a:cs typeface="华康行楷体 W5" panose="03000509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4249343" y="2672649"/>
            <a:ext cx="3693319" cy="11079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7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2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3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4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5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6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7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8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9.xml><?xml version="1.0" encoding="utf-8"?>
<p:tagLst xmlns:p="http://schemas.openxmlformats.org/presentationml/2006/main">
  <p:tag name="KSO_WM_DIAGRAM_VIRTUALLY_FRAME" val="{&quot;height&quot;:213.27535433070867,&quot;left&quot;:139.2,&quot;top&quot;:218.75929133858267,&quot;width&quot;:635.3129527559055}"/>
</p:tagLst>
</file>

<file path=ppt/tags/tag10.xml><?xml version="1.0" encoding="utf-8"?>
<p:tagLst xmlns:p="http://schemas.openxmlformats.org/presentationml/2006/main">
  <p:tag name="KSO_WM_DIAGRAM_VIRTUALLY_FRAME" val="{&quot;height&quot;:210.21748031496062,&quot;left&quot;:143.98716535433073,&quot;top&quot;:221.8171653543307,&quot;width&quot;:630.5257874015748}"/>
</p:tagLst>
</file>

<file path=ppt/tags/tag11.xml><?xml version="1.0" encoding="utf-8"?>
<p:tagLst xmlns:p="http://schemas.openxmlformats.org/presentationml/2006/main">
  <p:tag name="KSO_WM_DIAGRAM_VIRTUALLY_FRAME" val="{&quot;height&quot;:361.4825196850394,&quot;left&quot;:503.53984251968507,&quot;top&quot;:113.87905511811023,&quot;width&quot;:409.5381889763779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18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19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0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1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2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3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4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5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6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7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8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29.xml><?xml version="1.0" encoding="utf-8"?>
<p:tagLst xmlns:p="http://schemas.openxmlformats.org/presentationml/2006/main">
  <p:tag name="KSO_WM_DIAGRAM_VIRTUALLY_FRAME" val="{&quot;height&quot;:274.45,&quot;left&quot;:55.5,&quot;top&quot;:148.73291338582675,&quot;width&quot;:849}"/>
</p:tagLst>
</file>

<file path=ppt/tags/tag30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ODViZmQwYjNiY2EwYTI4N2Q2NWRiMDE2MDM0MTU1YzIifQ=="/>
</p:tagLst>
</file>

<file path=ppt/theme/theme1.xml><?xml version="1.0" encoding="utf-8"?>
<a:theme xmlns:a="http://schemas.openxmlformats.org/drawingml/2006/main" name="Office 主题​​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5E6FA2"/>
      </a:accent1>
      <a:accent2>
        <a:srgbClr val="F8E6EE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WPS 演示</Application>
  <PresentationFormat>宽屏</PresentationFormat>
  <Paragraphs>118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Alibaba PuHuiTi M</vt:lpstr>
      <vt:lpstr>微软雅黑</vt:lpstr>
      <vt:lpstr>思源黑体 CN Regular</vt:lpstr>
      <vt:lpstr>黑体</vt:lpstr>
      <vt:lpstr>方正兰亭黑简体</vt:lpstr>
      <vt:lpstr>华康行楷体 W5</vt:lpstr>
      <vt:lpstr>思源宋体 CN Heavy</vt:lpstr>
      <vt:lpstr>Arial Unicode MS</vt:lpstr>
      <vt:lpstr>Calibri</vt:lpstr>
      <vt:lpstr>思源黑体 CN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陈禹航</cp:lastModifiedBy>
  <cp:revision>26</cp:revision>
  <dcterms:created xsi:type="dcterms:W3CDTF">2024-01-17T15:47:00Z</dcterms:created>
  <dcterms:modified xsi:type="dcterms:W3CDTF">2026-01-12T08:13:48Z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A7A905B7E42F45FAB300567A7023CE84_11</vt:lpwstr>
  </property>
  <property fmtid="{D5CDD505-2E9C-101B-9397-08002B2CF9AE}" pid="3" name="KSOProductBuildVer">
    <vt:lpwstr>2052-12.1.0.23542</vt:lpwstr>
  </property>
  <property fmtid="{D5CDD505-2E9C-101B-9397-08002B2CF9AE}" pid="4" name="KSOTemplateUUID">
    <vt:lpwstr>v1.0_mb_3SqNF/qHDzpMrjX0cre1eg==</vt:lpwstr>
  </property>
</Properties>
</file>